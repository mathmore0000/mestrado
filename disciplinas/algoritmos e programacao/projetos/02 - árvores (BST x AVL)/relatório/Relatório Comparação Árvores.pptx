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nrope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5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4.xml"/><Relationship Id="rId21" Type="http://schemas.openxmlformats.org/officeDocument/2006/relationships/font" Target="fonts/Nunito-italic.fntdata"/><Relationship Id="rId13" Type="http://schemas.openxmlformats.org/officeDocument/2006/relationships/slide" Target="slides/slide7.xml"/><Relationship Id="rId24" Type="http://schemas.openxmlformats.org/officeDocument/2006/relationships/font" Target="fonts/Manrope-bold.fntdata"/><Relationship Id="rId12" Type="http://schemas.openxmlformats.org/officeDocument/2006/relationships/slide" Target="slides/slide6.xml"/><Relationship Id="rId23" Type="http://schemas.openxmlformats.org/officeDocument/2006/relationships/font" Target="fonts/Manrop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Nuni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5ef8f9d8a_1_1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5ef8f9d8a_1_1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47067a32f_0_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47067a32f_0_1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5ef8f9d8a_1_2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6d569a73c_0_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6d569a73c_0_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6d569a73c_0_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6d569a73c_0_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6d569a73c_0_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5ef8f9d8a_1_3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C">
  <p:cSld name="TITLE_AND_BODY_2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pic"/>
          </p:nvPr>
        </p:nvSpPr>
        <p:spPr>
          <a:xfrm>
            <a:off x="429834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E">
  <p:cSld name="TITLE_AND_BODY_2_1_1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/>
          <p:nvPr>
            <p:ph idx="2" type="pic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B">
  <p:cSld name="CUSTOM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/>
          <p:nvPr>
            <p:ph idx="2" type="pic"/>
          </p:nvPr>
        </p:nvSpPr>
        <p:spPr>
          <a:xfrm>
            <a:off x="301750" y="2276800"/>
            <a:ext cx="2533200" cy="253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19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/>
        </p:nvSpPr>
        <p:spPr>
          <a:xfrm>
            <a:off x="3252541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8" name="Google Shape;78;p19"/>
          <p:cNvSpPr txBox="1"/>
          <p:nvPr/>
        </p:nvSpPr>
        <p:spPr>
          <a:xfrm>
            <a:off x="3252541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9" name="Google Shape;79;p19"/>
          <p:cNvSpPr txBox="1"/>
          <p:nvPr/>
        </p:nvSpPr>
        <p:spPr>
          <a:xfrm>
            <a:off x="6160333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3" type="body"/>
          </p:nvPr>
        </p:nvSpPr>
        <p:spPr>
          <a:xfrm>
            <a:off x="6647122" y="374904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4" type="body"/>
          </p:nvPr>
        </p:nvSpPr>
        <p:spPr>
          <a:xfrm>
            <a:off x="6647122" y="2093976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9"/>
          <p:cNvSpPr txBox="1"/>
          <p:nvPr/>
        </p:nvSpPr>
        <p:spPr>
          <a:xfrm>
            <a:off x="6160333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4" name="Google Shape;84;p19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>
            <p:ph idx="2" type="pic"/>
          </p:nvPr>
        </p:nvSpPr>
        <p:spPr>
          <a:xfrm>
            <a:off x="5545938" y="15193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ctrTitle"/>
          </p:nvPr>
        </p:nvSpPr>
        <p:spPr>
          <a:xfrm>
            <a:off x="311700" y="744575"/>
            <a:ext cx="8520600" cy="29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Relatório e Análise Crítica do Desempenho de Árvores BST e AVL em Operações de Inserção e Busca</a:t>
            </a:r>
            <a:endParaRPr/>
          </a:p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311700" y="4002750"/>
            <a:ext cx="85206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Mestrado Profissional em Computa</a:t>
            </a:r>
            <a:r>
              <a:rPr lang="pt-BR"/>
              <a:t>ção Aplicada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</a:rPr>
              <a:t>Matheus dos Santos Moreira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-438500" y="0"/>
            <a:ext cx="28125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07</a:t>
            </a:r>
            <a:r>
              <a:rPr lang="pt-BR" sz="2500"/>
              <a:t>/04/2026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654850" y="1598075"/>
            <a:ext cx="5750700" cy="325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Introdução ao conceito de análise assintótica e sua relevância.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Comparação entre árvores BST e AVL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Impacto do balanceamento no desempenho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Relação entre análise teórica e execução prática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Avaliação experimental de inserção e busca</a:t>
            </a:r>
            <a:endParaRPr/>
          </a:p>
        </p:txBody>
      </p:sp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7025" y="135255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b</a:t>
            </a:r>
            <a:r>
              <a:rPr lang="pt-BR"/>
              <a:t>ásicos: AVL/BST e Análise Assintótica</a:t>
            </a:r>
            <a:endParaRPr/>
          </a:p>
        </p:txBody>
      </p:sp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4572000" y="1426475"/>
            <a:ext cx="46314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>
                <a:solidFill>
                  <a:srgbClr val="000000"/>
                </a:solidFill>
              </a:rPr>
              <a:t>BST: estrutura simples, pode desbalancear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>
                <a:solidFill>
                  <a:srgbClr val="000000"/>
                </a:solidFill>
              </a:rPr>
              <a:t>AVL: árvore balanceada com rotações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>
                <a:solidFill>
                  <a:srgbClr val="000000"/>
                </a:solidFill>
              </a:rPr>
              <a:t>Desempenho depende da </a:t>
            </a:r>
            <a:r>
              <a:rPr b="1" lang="pt-BR">
                <a:solidFill>
                  <a:srgbClr val="000000"/>
                </a:solidFill>
              </a:rPr>
              <a:t>altura da árvore</a:t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>
                <a:solidFill>
                  <a:srgbClr val="000000"/>
                </a:solidFill>
              </a:rPr>
              <a:t>Análise assintótica ajuda a prever esse comportamento </a:t>
            </a:r>
            <a:endParaRPr/>
          </a:p>
        </p:txBody>
      </p:sp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188" y="2839200"/>
            <a:ext cx="3193676" cy="201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3" title="im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0125" y="1280000"/>
            <a:ext cx="2418709" cy="14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 de dados</a:t>
            </a:r>
            <a:endParaRPr/>
          </a:p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178331" y="1373926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Dados carregados a partir de um arquivo CSV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Informações de funcionários (ID, salário, etc.)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Subconjuntos de tamanhos: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1.000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5.000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10.000 elementos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Dados organizados em dois padrões: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Ordenado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Aleatório</a:t>
            </a:r>
            <a:endParaRPr/>
          </a:p>
        </p:txBody>
      </p:sp>
      <p:pic>
        <p:nvPicPr>
          <p:cNvPr id="114" name="Google Shape;1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432" y="973750"/>
            <a:ext cx="3878568" cy="3283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Experimental</a:t>
            </a:r>
            <a:endParaRPr/>
          </a:p>
        </p:txBody>
      </p:sp>
      <p:sp>
        <p:nvSpPr>
          <p:cNvPr id="119" name="Google Shape;119;p25"/>
          <p:cNvSpPr txBox="1"/>
          <p:nvPr>
            <p:ph idx="1" type="body"/>
          </p:nvPr>
        </p:nvSpPr>
        <p:spPr>
          <a:xfrm>
            <a:off x="3748896" y="1365775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Utilização da linguagem Rust e 'std::time' para medições de tempo.</a:t>
            </a:r>
            <a:endParaRPr/>
          </a:p>
        </p:txBody>
      </p:sp>
      <p:sp>
        <p:nvSpPr>
          <p:cNvPr id="120" name="Google Shape;120;p25"/>
          <p:cNvSpPr txBox="1"/>
          <p:nvPr>
            <p:ph idx="4294967295" type="body"/>
          </p:nvPr>
        </p:nvSpPr>
        <p:spPr>
          <a:xfrm>
            <a:off x="6656122" y="1365779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em árvores de 1.000, 5.000 e 10.000 itens com dois estados de inicialização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5"/>
          <p:cNvSpPr txBox="1"/>
          <p:nvPr>
            <p:ph idx="4294967295" type="body"/>
          </p:nvPr>
        </p:nvSpPr>
        <p:spPr>
          <a:xfrm>
            <a:off x="6656122" y="3084851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Realizadas 90 execuções totais para mitigar influência de outliers.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5"/>
          <p:cNvSpPr txBox="1"/>
          <p:nvPr>
            <p:ph idx="4294967295" type="body"/>
          </p:nvPr>
        </p:nvSpPr>
        <p:spPr>
          <a:xfrm>
            <a:off x="3748896" y="3084851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Hardware específico utilizado: Apple M4 (10 núcleos) e 24GB RAM</a:t>
            </a:r>
            <a:endParaRPr/>
          </a:p>
        </p:txBody>
      </p:sp>
      <p:pic>
        <p:nvPicPr>
          <p:cNvPr id="123" name="Google Shape;123;p25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238" y="2478013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3395301" y="3084850"/>
            <a:ext cx="243900" cy="255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999999"/>
                </a:solidFill>
              </a:rPr>
              <a:t>02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3395301" y="1365775"/>
            <a:ext cx="243900" cy="255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999999"/>
                </a:solidFill>
              </a:rPr>
              <a:t>01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6330626" y="3084850"/>
            <a:ext cx="243900" cy="255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999999"/>
                </a:solidFill>
              </a:rPr>
              <a:t>04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6330626" y="1365775"/>
            <a:ext cx="243900" cy="255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999999"/>
                </a:solidFill>
              </a:rPr>
              <a:t>03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5775" y="2672999"/>
            <a:ext cx="3773425" cy="2264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6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5775" y="294450"/>
            <a:ext cx="3773425" cy="226405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283475" y="1785950"/>
            <a:ext cx="6038700" cy="36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/>
              <a:t>AVL mantém desempenho estável → O(log 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/>
              <a:t>BST com dados ordenados → comportamento O(n)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/>
              <a:t>Em dados aleatórios: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pt-BR"/>
              <a:t>BST ≈ AVL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pt-BR"/>
              <a:t>AVL levemente mais lenta (rotações) </a:t>
            </a:r>
            <a:endParaRPr/>
          </a:p>
        </p:txBody>
      </p:sp>
      <p:sp>
        <p:nvSpPr>
          <p:cNvPr id="135" name="Google Shape;135;p26"/>
          <p:cNvSpPr txBox="1"/>
          <p:nvPr>
            <p:ph type="title"/>
          </p:nvPr>
        </p:nvSpPr>
        <p:spPr>
          <a:xfrm>
            <a:off x="659850" y="888600"/>
            <a:ext cx="34836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D9D9D9"/>
                </a:solidFill>
              </a:rPr>
              <a:t>Inserção</a:t>
            </a:r>
            <a:endParaRPr sz="22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4365800" y="1684800"/>
            <a:ext cx="6038700" cy="36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>
                <a:solidFill>
                  <a:srgbClr val="000000"/>
                </a:solidFill>
              </a:rPr>
              <a:t>Com dados ordenados: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pt-BR">
                <a:solidFill>
                  <a:srgbClr val="000000"/>
                </a:solidFill>
              </a:rPr>
              <a:t>BST degrada → busca O(n)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pt-BR">
                <a:solidFill>
                  <a:srgbClr val="000000"/>
                </a:solidFill>
              </a:rPr>
              <a:t>AVL mantém O(log n)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>
                <a:solidFill>
                  <a:srgbClr val="000000"/>
                </a:solidFill>
              </a:rPr>
              <a:t>Com dados aleatórios: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pt-BR">
                <a:solidFill>
                  <a:srgbClr val="000000"/>
                </a:solidFill>
              </a:rPr>
              <a:t>BST ≈ AVL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pt-BR">
                <a:solidFill>
                  <a:srgbClr val="000000"/>
                </a:solidFill>
              </a:rPr>
              <a:t>ambas com bom desempenho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Desempenho diretamente ligado à </a:t>
            </a:r>
            <a:r>
              <a:rPr b="1" lang="pt-BR">
                <a:solidFill>
                  <a:srgbClr val="000000"/>
                </a:solidFill>
              </a:rPr>
              <a:t>altura da árvore</a:t>
            </a:r>
            <a:endParaRPr/>
          </a:p>
        </p:txBody>
      </p:sp>
      <p:sp>
        <p:nvSpPr>
          <p:cNvPr id="141" name="Google Shape;141;p27"/>
          <p:cNvSpPr txBox="1"/>
          <p:nvPr>
            <p:ph type="title"/>
          </p:nvPr>
        </p:nvSpPr>
        <p:spPr>
          <a:xfrm>
            <a:off x="659850" y="888600"/>
            <a:ext cx="34836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D9D9D9"/>
                </a:solidFill>
              </a:rPr>
              <a:t>Busca por Chave</a:t>
            </a:r>
            <a:endParaRPr sz="2200">
              <a:solidFill>
                <a:srgbClr val="D9D9D9"/>
              </a:solidFill>
            </a:endParaRPr>
          </a:p>
        </p:txBody>
      </p:sp>
      <p:pic>
        <p:nvPicPr>
          <p:cNvPr id="142" name="Google Shape;142;p2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263" y="1580837"/>
            <a:ext cx="2673175" cy="1603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00" y="3311123"/>
            <a:ext cx="2673175" cy="16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588425" y="1527050"/>
            <a:ext cx="3962100" cy="3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94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30"/>
              <a:buChar char="●"/>
            </a:pPr>
            <a:r>
              <a:rPr lang="pt-BR" sz="1430">
                <a:solidFill>
                  <a:srgbClr val="000000"/>
                </a:solidFill>
              </a:rPr>
              <a:t>BST ≈ AVL em todos os cenários</a:t>
            </a:r>
            <a:endParaRPr sz="143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rgbClr val="000000"/>
              </a:solidFill>
            </a:endParaRPr>
          </a:p>
          <a:p>
            <a:pPr indent="-3194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30"/>
              <a:buChar char="●"/>
            </a:pPr>
            <a:r>
              <a:rPr lang="pt-BR" sz="1430">
                <a:solidFill>
                  <a:srgbClr val="000000"/>
                </a:solidFill>
              </a:rPr>
              <a:t>Tempo de execução cresce linearmente</a:t>
            </a:r>
            <a:endParaRPr sz="143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rgbClr val="000000"/>
              </a:solidFill>
            </a:endParaRPr>
          </a:p>
          <a:p>
            <a:pPr indent="-3194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30"/>
              <a:buChar char="●"/>
            </a:pPr>
            <a:r>
              <a:rPr lang="pt-BR" sz="1430">
                <a:solidFill>
                  <a:srgbClr val="000000"/>
                </a:solidFill>
              </a:rPr>
              <a:t>Complexidade: </a:t>
            </a:r>
            <a:r>
              <a:rPr b="1" lang="pt-BR" sz="1430">
                <a:solidFill>
                  <a:srgbClr val="000000"/>
                </a:solidFill>
              </a:rPr>
              <a:t>O(n)</a:t>
            </a:r>
            <a:endParaRPr b="1" sz="143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30">
              <a:solidFill>
                <a:srgbClr val="000000"/>
              </a:solidFill>
            </a:endParaRPr>
          </a:p>
          <a:p>
            <a:pPr indent="-3194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30"/>
              <a:buChar char="●"/>
            </a:pPr>
            <a:r>
              <a:rPr lang="pt-BR" sz="1430">
                <a:solidFill>
                  <a:srgbClr val="000000"/>
                </a:solidFill>
              </a:rPr>
              <a:t>Não é possível usar a propriedade de busca binária</a:t>
            </a:r>
            <a:endParaRPr sz="143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rgbClr val="000000"/>
              </a:solidFill>
            </a:endParaRPr>
          </a:p>
          <a:p>
            <a:pPr indent="-3194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30"/>
              <a:buChar char="●"/>
            </a:pPr>
            <a:r>
              <a:rPr lang="pt-BR" sz="1430">
                <a:solidFill>
                  <a:srgbClr val="000000"/>
                </a:solidFill>
              </a:rPr>
              <a:t>Utilizar estruturas auxiliáres </a:t>
            </a:r>
            <a:r>
              <a:rPr lang="pt-BR">
                <a:solidFill>
                  <a:srgbClr val="000000"/>
                </a:solidFill>
              </a:rPr>
              <a:t>→ </a:t>
            </a:r>
            <a:r>
              <a:rPr lang="pt-BR" sz="1430">
                <a:solidFill>
                  <a:srgbClr val="000000"/>
                </a:solidFill>
              </a:rPr>
              <a:t>O(log n + k)</a:t>
            </a:r>
            <a:endParaRPr sz="1430">
              <a:solidFill>
                <a:srgbClr val="000000"/>
              </a:solidFill>
            </a:endParaRPr>
          </a:p>
        </p:txBody>
      </p:sp>
      <p:sp>
        <p:nvSpPr>
          <p:cNvPr id="149" name="Google Shape;149;p28"/>
          <p:cNvSpPr txBox="1"/>
          <p:nvPr>
            <p:ph type="title"/>
          </p:nvPr>
        </p:nvSpPr>
        <p:spPr>
          <a:xfrm>
            <a:off x="659850" y="888600"/>
            <a:ext cx="6710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D9D9D9"/>
                </a:solidFill>
              </a:rPr>
              <a:t>Busca por Sal</a:t>
            </a:r>
            <a:r>
              <a:rPr lang="pt-BR" sz="2200">
                <a:solidFill>
                  <a:srgbClr val="D9D9D9"/>
                </a:solidFill>
              </a:rPr>
              <a:t>ário (</a:t>
            </a:r>
            <a:r>
              <a:rPr lang="pt-BR" sz="2200">
                <a:solidFill>
                  <a:srgbClr val="D9D9D9"/>
                </a:solidFill>
              </a:rPr>
              <a:t>Campo N</a:t>
            </a:r>
            <a:r>
              <a:rPr lang="pt-BR" sz="2200">
                <a:solidFill>
                  <a:srgbClr val="D9D9D9"/>
                </a:solidFill>
              </a:rPr>
              <a:t>ão Chave)</a:t>
            </a:r>
            <a:endParaRPr sz="2200">
              <a:solidFill>
                <a:srgbClr val="D9D9D9"/>
              </a:solidFill>
            </a:endParaRPr>
          </a:p>
        </p:txBody>
      </p:sp>
      <p:pic>
        <p:nvPicPr>
          <p:cNvPr id="150" name="Google Shape;150;p28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0000" y="1684800"/>
            <a:ext cx="4147325" cy="248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5258050" y="1896725"/>
            <a:ext cx="6038700" cy="36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BST (ordenado):</a:t>
            </a:r>
            <a:endParaRPr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pt-BR">
                <a:solidFill>
                  <a:srgbClr val="000000"/>
                </a:solidFill>
              </a:rPr>
              <a:t>altura ≈ n → degradação total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BST (aleatório):</a:t>
            </a:r>
            <a:endParaRPr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pt-BR">
                <a:solidFill>
                  <a:srgbClr val="000000"/>
                </a:solidFill>
              </a:rPr>
              <a:t>altura ≈ log 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AVL:</a:t>
            </a:r>
            <a:endParaRPr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pt-BR">
                <a:solidFill>
                  <a:srgbClr val="000000"/>
                </a:solidFill>
              </a:rPr>
              <a:t>altura ≈ log n em todos os casos</a:t>
            </a:r>
            <a:endParaRPr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pt-BR">
                <a:solidFill>
                  <a:srgbClr val="000000"/>
                </a:solidFill>
              </a:rPr>
              <a:t>balanceamento garante estabilidade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29"/>
          <p:cNvSpPr txBox="1"/>
          <p:nvPr>
            <p:ph type="title"/>
          </p:nvPr>
        </p:nvSpPr>
        <p:spPr>
          <a:xfrm>
            <a:off x="659850" y="888600"/>
            <a:ext cx="6710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D9D9D9"/>
                </a:solidFill>
              </a:rPr>
              <a:t>Alturas das Árvores</a:t>
            </a:r>
            <a:endParaRPr sz="2200">
              <a:solidFill>
                <a:srgbClr val="D9D9D9"/>
              </a:solidFill>
            </a:endParaRPr>
          </a:p>
        </p:txBody>
      </p:sp>
      <p:pic>
        <p:nvPicPr>
          <p:cNvPr id="157" name="Google Shape;157;p29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25" y="1684795"/>
            <a:ext cx="4445800" cy="266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</a:t>
            </a:r>
            <a:r>
              <a:rPr lang="pt-BR"/>
              <a:t>nálise dos Resultados Experimentais</a:t>
            </a:r>
            <a:endParaRPr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604450" y="1215213"/>
            <a:ext cx="4059000" cy="36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Resultados confirmam a análise teórica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BST é sensível ao padrão de entrada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AVL garante desempenho consistente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Existe trade-off:</a:t>
            </a:r>
            <a:endParaRPr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pt-BR">
                <a:solidFill>
                  <a:srgbClr val="000000"/>
                </a:solidFill>
              </a:rPr>
              <a:t>AVL → mais custo (rotações)</a:t>
            </a:r>
            <a:endParaRPr>
              <a:solidFill>
                <a:srgbClr val="00000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pt-BR">
                <a:solidFill>
                  <a:srgbClr val="000000"/>
                </a:solidFill>
              </a:rPr>
              <a:t>BST → mais simples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1476" y="2050569"/>
            <a:ext cx="1933875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3700" y="2050563"/>
            <a:ext cx="2495650" cy="16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9701" y="2668451"/>
            <a:ext cx="725024" cy="72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</a:t>
            </a:r>
            <a:r>
              <a:rPr lang="pt-BR"/>
              <a:t>ão</a:t>
            </a:r>
            <a:endParaRPr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4801525" y="1347388"/>
            <a:ext cx="4059000" cy="36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BST pode degradar para O(n) dependendo da entrada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AVL garante desempenho O(log n)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Altura da árvore é o fator determinante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>
                <a:solidFill>
                  <a:srgbClr val="000000"/>
                </a:solidFill>
              </a:rPr>
              <a:t>Escolha da estrutura depende do cenário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71" name="Google Shape;1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75" y="1901851"/>
            <a:ext cx="2801946" cy="18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650" y="3621027"/>
            <a:ext cx="1287849" cy="12797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2"/>
          <p:cNvSpPr txBox="1"/>
          <p:nvPr>
            <p:ph type="title"/>
          </p:nvPr>
        </p:nvSpPr>
        <p:spPr>
          <a:xfrm>
            <a:off x="3787200" y="2345250"/>
            <a:ext cx="1569600" cy="45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