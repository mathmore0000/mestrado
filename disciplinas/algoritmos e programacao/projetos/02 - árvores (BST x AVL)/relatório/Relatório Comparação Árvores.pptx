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2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6" r:id="rId4"/>
    <p:sldMasterId id="2147483667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y="5143500" cx="9144000"/>
  <p:notesSz cx="6858000" cy="9144000"/>
  <p:embeddedFontLst>
    <p:embeddedFont>
      <p:font typeface="Nunito"/>
      <p:regular r:id="rId19"/>
      <p:bold r:id="rId20"/>
      <p:italic r:id="rId21"/>
      <p:boldItalic r:id="rId22"/>
    </p:embeddedFont>
    <p:embeddedFont>
      <p:font typeface="Manrope"/>
      <p:regular r:id="rId23"/>
      <p:bold r:id="rId2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Nunito-bold.fntdata"/><Relationship Id="rId11" Type="http://schemas.openxmlformats.org/officeDocument/2006/relationships/slide" Target="slides/slide5.xml"/><Relationship Id="rId22" Type="http://schemas.openxmlformats.org/officeDocument/2006/relationships/font" Target="fonts/Nunito-boldItalic.fntdata"/><Relationship Id="rId10" Type="http://schemas.openxmlformats.org/officeDocument/2006/relationships/slide" Target="slides/slide4.xml"/><Relationship Id="rId21" Type="http://schemas.openxmlformats.org/officeDocument/2006/relationships/font" Target="fonts/Nunito-italic.fntdata"/><Relationship Id="rId13" Type="http://schemas.openxmlformats.org/officeDocument/2006/relationships/slide" Target="slides/slide7.xml"/><Relationship Id="rId24" Type="http://schemas.openxmlformats.org/officeDocument/2006/relationships/font" Target="fonts/Manrope-bold.fntdata"/><Relationship Id="rId12" Type="http://schemas.openxmlformats.org/officeDocument/2006/relationships/slide" Target="slides/slide6.xml"/><Relationship Id="rId23" Type="http://schemas.openxmlformats.org/officeDocument/2006/relationships/font" Target="fonts/Manrope-regular.fntdata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5" Type="http://schemas.openxmlformats.org/officeDocument/2006/relationships/slideMaster" Target="slideMasters/slideMaster2.xml"/><Relationship Id="rId19" Type="http://schemas.openxmlformats.org/officeDocument/2006/relationships/font" Target="fonts/Nunito-regular.fntdata"/><Relationship Id="rId6" Type="http://schemas.openxmlformats.org/officeDocument/2006/relationships/notesMaster" Target="notesMasters/notesMaster1.xml"/><Relationship Id="rId18" Type="http://schemas.openxmlformats.org/officeDocument/2006/relationships/slide" Target="slides/slide12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95ef8f9d8a_1_170:notes"/>
          <p:cNvSpPr txBox="1"/>
          <p:nvPr>
            <p:ph idx="1" type="body"/>
          </p:nvPr>
        </p:nvSpPr>
        <p:spPr>
          <a:xfrm>
            <a:off x="2286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95ef8f9d8a_1_196:notes"/>
          <p:cNvSpPr txBox="1"/>
          <p:nvPr>
            <p:ph idx="1" type="body"/>
          </p:nvPr>
        </p:nvSpPr>
        <p:spPr>
          <a:xfrm>
            <a:off x="2286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3d47067a32f_0_3:notes"/>
          <p:cNvSpPr txBox="1"/>
          <p:nvPr>
            <p:ph idx="1" type="body"/>
          </p:nvPr>
        </p:nvSpPr>
        <p:spPr>
          <a:xfrm>
            <a:off x="2286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3d47067a32f_0_130:notes"/>
          <p:cNvSpPr txBox="1"/>
          <p:nvPr>
            <p:ph idx="1" type="body"/>
          </p:nvPr>
        </p:nvSpPr>
        <p:spPr>
          <a:xfrm>
            <a:off x="2286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95ef8f9d8a_1_280:notes"/>
          <p:cNvSpPr txBox="1"/>
          <p:nvPr>
            <p:ph idx="1" type="body"/>
          </p:nvPr>
        </p:nvSpPr>
        <p:spPr>
          <a:xfrm>
            <a:off x="2286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96d569a73c_0_8:notes"/>
          <p:cNvSpPr txBox="1"/>
          <p:nvPr>
            <p:ph idx="1" type="body"/>
          </p:nvPr>
        </p:nvSpPr>
        <p:spPr>
          <a:xfrm>
            <a:off x="2286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96d569a73c_0_19:notes"/>
          <p:cNvSpPr txBox="1"/>
          <p:nvPr>
            <p:ph idx="1" type="body"/>
          </p:nvPr>
        </p:nvSpPr>
        <p:spPr>
          <a:xfrm>
            <a:off x="2286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96d569a73c_0_28:notes"/>
          <p:cNvSpPr txBox="1"/>
          <p:nvPr>
            <p:ph idx="1" type="body"/>
          </p:nvPr>
        </p:nvSpPr>
        <p:spPr>
          <a:xfrm>
            <a:off x="2286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96d569a73c_0_36:notes"/>
          <p:cNvSpPr txBox="1"/>
          <p:nvPr>
            <p:ph idx="1" type="body"/>
          </p:nvPr>
        </p:nvSpPr>
        <p:spPr>
          <a:xfrm>
            <a:off x="2286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396d569a73c_0_49:notes"/>
          <p:cNvSpPr txBox="1"/>
          <p:nvPr>
            <p:ph idx="1" type="body"/>
          </p:nvPr>
        </p:nvSpPr>
        <p:spPr>
          <a:xfrm>
            <a:off x="2286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395ef8f9d8a_1_380:notes"/>
          <p:cNvSpPr txBox="1"/>
          <p:nvPr>
            <p:ph idx="1" type="body"/>
          </p:nvPr>
        </p:nvSpPr>
        <p:spPr>
          <a:xfrm>
            <a:off x="2286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Generated Slide 1_1_1_TITLEANDBULLETS_C">
  <p:cSld name="TITLE_AND_BODY_2_1_1_1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327575" y="289525"/>
            <a:ext cx="3548100" cy="1093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327575" y="1565671"/>
            <a:ext cx="3548100" cy="3288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3" name="Google Shape;53;p13"/>
          <p:cNvSpPr/>
          <p:nvPr>
            <p:ph idx="2" type="pic"/>
          </p:nvPr>
        </p:nvSpPr>
        <p:spPr>
          <a:xfrm>
            <a:off x="4298349" y="316350"/>
            <a:ext cx="4510800" cy="4510800"/>
          </a:xfrm>
          <a:prstGeom prst="roundRect">
            <a:avLst>
              <a:gd fmla="val 50000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Generated Slide 1_1_1_TITLEANDBULLETS_E">
  <p:cSld name="TITLE_AND_BODY_2_1_1_1_1_1_1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/>
          <p:nvPr>
            <p:ph type="title"/>
          </p:nvPr>
        </p:nvSpPr>
        <p:spPr>
          <a:xfrm>
            <a:off x="5145700" y="226400"/>
            <a:ext cx="3651900" cy="1094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56" name="Google Shape;56;p14"/>
          <p:cNvSpPr txBox="1"/>
          <p:nvPr>
            <p:ph idx="1" type="body"/>
          </p:nvPr>
        </p:nvSpPr>
        <p:spPr>
          <a:xfrm>
            <a:off x="5145700" y="1598500"/>
            <a:ext cx="3651900" cy="3318600"/>
          </a:xfrm>
          <a:prstGeom prst="rect">
            <a:avLst/>
          </a:prstGeom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7" name="Google Shape;57;p14"/>
          <p:cNvSpPr/>
          <p:nvPr>
            <p:ph idx="2" type="pic"/>
          </p:nvPr>
        </p:nvSpPr>
        <p:spPr>
          <a:xfrm>
            <a:off x="204047" y="226350"/>
            <a:ext cx="4690800" cy="46908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E46962"/>
          </p15:clr>
        </p15:guide>
        <p15:guide id="2" pos="3083">
          <p15:clr>
            <a:srgbClr val="E46962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Generated Slide 1_1_1_TITLEANDBULLETS_A">
  <p:cSld name="TITLE_AND_BODY_2_1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5"/>
          <p:cNvSpPr/>
          <p:nvPr>
            <p:ph idx="2" type="pic"/>
          </p:nvPr>
        </p:nvSpPr>
        <p:spPr>
          <a:xfrm>
            <a:off x="3996000" y="0"/>
            <a:ext cx="5148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60" name="Google Shape;60;p15"/>
          <p:cNvSpPr txBox="1"/>
          <p:nvPr>
            <p:ph type="title"/>
          </p:nvPr>
        </p:nvSpPr>
        <p:spPr>
          <a:xfrm>
            <a:off x="327575" y="340500"/>
            <a:ext cx="3548100" cy="1093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1" name="Google Shape;61;p15"/>
          <p:cNvSpPr txBox="1"/>
          <p:nvPr>
            <p:ph idx="1" type="body"/>
          </p:nvPr>
        </p:nvSpPr>
        <p:spPr>
          <a:xfrm>
            <a:off x="327575" y="1616646"/>
            <a:ext cx="3548100" cy="3288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Generated Slide 1_1_1_TITLEANDBULLETS_D">
  <p:cSld name="TITLE_AND_BODY_2_1_1_1_1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7"/>
          <p:cNvSpPr/>
          <p:nvPr>
            <p:ph idx="2" type="pic"/>
          </p:nvPr>
        </p:nvSpPr>
        <p:spPr>
          <a:xfrm>
            <a:off x="296299" y="316350"/>
            <a:ext cx="4510800" cy="4510800"/>
          </a:xfrm>
          <a:prstGeom prst="roundRect">
            <a:avLst>
              <a:gd fmla="val 50000" name="adj"/>
            </a:avLst>
          </a:prstGeom>
          <a:noFill/>
          <a:ln>
            <a:noFill/>
          </a:ln>
        </p:spPr>
      </p:sp>
      <p:sp>
        <p:nvSpPr>
          <p:cNvPr id="68" name="Google Shape;68;p17"/>
          <p:cNvSpPr txBox="1"/>
          <p:nvPr>
            <p:ph type="title"/>
          </p:nvPr>
        </p:nvSpPr>
        <p:spPr>
          <a:xfrm>
            <a:off x="5151925" y="289525"/>
            <a:ext cx="3548100" cy="1093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9" name="Google Shape;69;p17"/>
          <p:cNvSpPr txBox="1"/>
          <p:nvPr>
            <p:ph idx="1" type="body"/>
          </p:nvPr>
        </p:nvSpPr>
        <p:spPr>
          <a:xfrm>
            <a:off x="5151925" y="1565671"/>
            <a:ext cx="3548100" cy="3288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288">
          <p15:clr>
            <a:srgbClr val="E46962"/>
          </p15:clr>
        </p15:guide>
        <p15:guide id="2" orient="horz" pos="288">
          <p15:clr>
            <a:srgbClr val="E46962"/>
          </p15:clr>
        </p15:guide>
        <p15:guide id="3" orient="horz" pos="2880">
          <p15:clr>
            <a:srgbClr val="E46962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Generated Slide 1_1_1_TITLEANDBULLETS_G">
  <p:cSld name="TITLE_AND_BODY_2_1_1_1_1_1_1_1_1_1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8"/>
          <p:cNvSpPr/>
          <p:nvPr>
            <p:ph idx="2" type="pic"/>
          </p:nvPr>
        </p:nvSpPr>
        <p:spPr>
          <a:xfrm>
            <a:off x="507438" y="1534500"/>
            <a:ext cx="3090600" cy="3090600"/>
          </a:xfrm>
          <a:prstGeom prst="rect">
            <a:avLst/>
          </a:prstGeom>
          <a:noFill/>
          <a:ln>
            <a:noFill/>
          </a:ln>
        </p:spPr>
      </p:sp>
      <p:sp>
        <p:nvSpPr>
          <p:cNvPr id="72" name="Google Shape;72;p18"/>
          <p:cNvSpPr txBox="1"/>
          <p:nvPr>
            <p:ph type="title"/>
          </p:nvPr>
        </p:nvSpPr>
        <p:spPr>
          <a:xfrm>
            <a:off x="507450" y="331400"/>
            <a:ext cx="8129100" cy="796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73" name="Google Shape;73;p18"/>
          <p:cNvSpPr txBox="1"/>
          <p:nvPr>
            <p:ph idx="1" type="body"/>
          </p:nvPr>
        </p:nvSpPr>
        <p:spPr>
          <a:xfrm>
            <a:off x="3854182" y="1519301"/>
            <a:ext cx="4782300" cy="3090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Generated Slide 1_4_1_TITLEANDBULLETS_B">
  <p:cSld name="CUSTOM_1_1_1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9"/>
          <p:cNvSpPr/>
          <p:nvPr>
            <p:ph idx="2" type="pic"/>
          </p:nvPr>
        </p:nvSpPr>
        <p:spPr>
          <a:xfrm>
            <a:off x="301750" y="2276800"/>
            <a:ext cx="2533200" cy="2532900"/>
          </a:xfrm>
          <a:prstGeom prst="ellipse">
            <a:avLst/>
          </a:prstGeom>
          <a:noFill/>
          <a:ln>
            <a:noFill/>
          </a:ln>
        </p:spPr>
      </p:sp>
      <p:sp>
        <p:nvSpPr>
          <p:cNvPr id="76" name="Google Shape;76;p19"/>
          <p:cNvSpPr txBox="1"/>
          <p:nvPr>
            <p:ph type="title"/>
          </p:nvPr>
        </p:nvSpPr>
        <p:spPr>
          <a:xfrm>
            <a:off x="301750" y="310900"/>
            <a:ext cx="2698200" cy="1965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77" name="Google Shape;77;p19"/>
          <p:cNvSpPr txBox="1"/>
          <p:nvPr/>
        </p:nvSpPr>
        <p:spPr>
          <a:xfrm>
            <a:off x="3252541" y="301752"/>
            <a:ext cx="530400" cy="61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>
                <a:solidFill>
                  <a:schemeClr val="dk2"/>
                </a:solidFill>
              </a:rPr>
              <a:t>01</a:t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78" name="Google Shape;78;p19"/>
          <p:cNvSpPr txBox="1"/>
          <p:nvPr/>
        </p:nvSpPr>
        <p:spPr>
          <a:xfrm>
            <a:off x="3252541" y="2020824"/>
            <a:ext cx="530400" cy="61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>
                <a:solidFill>
                  <a:schemeClr val="dk2"/>
                </a:solidFill>
              </a:rPr>
              <a:t>02</a:t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79" name="Google Shape;79;p19"/>
          <p:cNvSpPr txBox="1"/>
          <p:nvPr/>
        </p:nvSpPr>
        <p:spPr>
          <a:xfrm>
            <a:off x="6160333" y="301752"/>
            <a:ext cx="530400" cy="61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>
                <a:solidFill>
                  <a:schemeClr val="dk2"/>
                </a:solidFill>
              </a:rPr>
              <a:t>03</a:t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80" name="Google Shape;80;p19"/>
          <p:cNvSpPr txBox="1"/>
          <p:nvPr>
            <p:ph idx="1" type="body"/>
          </p:nvPr>
        </p:nvSpPr>
        <p:spPr>
          <a:xfrm>
            <a:off x="3739896" y="374900"/>
            <a:ext cx="2167200" cy="1536300"/>
          </a:xfrm>
          <a:prstGeom prst="rect">
            <a:avLst/>
          </a:prstGeom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81" name="Google Shape;81;p19"/>
          <p:cNvSpPr txBox="1"/>
          <p:nvPr>
            <p:ph idx="3" type="body"/>
          </p:nvPr>
        </p:nvSpPr>
        <p:spPr>
          <a:xfrm>
            <a:off x="6647122" y="374904"/>
            <a:ext cx="2167200" cy="1536300"/>
          </a:xfrm>
          <a:prstGeom prst="rect">
            <a:avLst/>
          </a:prstGeom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82" name="Google Shape;82;p19"/>
          <p:cNvSpPr txBox="1"/>
          <p:nvPr>
            <p:ph idx="4" type="body"/>
          </p:nvPr>
        </p:nvSpPr>
        <p:spPr>
          <a:xfrm>
            <a:off x="6647122" y="2093976"/>
            <a:ext cx="2167200" cy="1536300"/>
          </a:xfrm>
          <a:prstGeom prst="rect">
            <a:avLst/>
          </a:prstGeom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83" name="Google Shape;83;p19"/>
          <p:cNvSpPr txBox="1"/>
          <p:nvPr/>
        </p:nvSpPr>
        <p:spPr>
          <a:xfrm>
            <a:off x="6160333" y="2020824"/>
            <a:ext cx="530400" cy="61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>
                <a:solidFill>
                  <a:schemeClr val="dk2"/>
                </a:solidFill>
              </a:rPr>
              <a:t>04</a:t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84" name="Google Shape;84;p19"/>
          <p:cNvSpPr txBox="1"/>
          <p:nvPr>
            <p:ph idx="5" type="body"/>
          </p:nvPr>
        </p:nvSpPr>
        <p:spPr>
          <a:xfrm>
            <a:off x="3739896" y="2093976"/>
            <a:ext cx="2167200" cy="1536300"/>
          </a:xfrm>
          <a:prstGeom prst="rect">
            <a:avLst/>
          </a:prstGeom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Generated Slide 1_1_1_TITLEANDBULLETS_H">
  <p:cSld name="TITLE_AND_BODY_2_1_1_1_1_1_1_1_1_1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0"/>
          <p:cNvSpPr/>
          <p:nvPr>
            <p:ph idx="2" type="pic"/>
          </p:nvPr>
        </p:nvSpPr>
        <p:spPr>
          <a:xfrm>
            <a:off x="5545938" y="1519300"/>
            <a:ext cx="3090600" cy="3090600"/>
          </a:xfrm>
          <a:prstGeom prst="rect">
            <a:avLst/>
          </a:prstGeom>
          <a:noFill/>
          <a:ln>
            <a:noFill/>
          </a:ln>
        </p:spPr>
      </p:sp>
      <p:sp>
        <p:nvSpPr>
          <p:cNvPr id="87" name="Google Shape;87;p20"/>
          <p:cNvSpPr txBox="1"/>
          <p:nvPr>
            <p:ph type="title"/>
          </p:nvPr>
        </p:nvSpPr>
        <p:spPr>
          <a:xfrm>
            <a:off x="507450" y="331400"/>
            <a:ext cx="8129100" cy="796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88" name="Google Shape;88;p20"/>
          <p:cNvSpPr txBox="1"/>
          <p:nvPr>
            <p:ph idx="1" type="body"/>
          </p:nvPr>
        </p:nvSpPr>
        <p:spPr>
          <a:xfrm>
            <a:off x="507456" y="1519301"/>
            <a:ext cx="4782300" cy="3090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theme" Target="../theme/theme3.xml"/><Relationship Id="rId14" Type="http://schemas.openxmlformats.org/officeDocument/2006/relationships/slideLayout" Target="../slideLayouts/slideLayout1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6.xml"/><Relationship Id="rId3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8.xml"/><Relationship Id="rId5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Quarterly business review">
    <p:bg>
      <p:bgPr>
        <a:solidFill>
          <a:schemeClr val="lt1"/>
        </a:solid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6"/>
          <p:cNvSpPr txBox="1"/>
          <p:nvPr>
            <p:ph idx="12" type="sldNum"/>
          </p:nvPr>
        </p:nvSpPr>
        <p:spPr>
          <a:xfrm>
            <a:off x="8311825" y="4696689"/>
            <a:ext cx="5487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91425" spcFirstLastPara="1" rIns="0" wrap="square" tIns="0">
            <a:normAutofit/>
          </a:bodyPr>
          <a:lstStyle>
            <a:lvl1pPr lvl="0" algn="r">
              <a:buNone/>
              <a:defRPr sz="800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1pPr>
            <a:lvl2pPr lvl="1" algn="r">
              <a:buNone/>
              <a:defRPr sz="800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2pPr>
            <a:lvl3pPr lvl="2" algn="r">
              <a:buNone/>
              <a:defRPr sz="800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3pPr>
            <a:lvl4pPr lvl="3" algn="r">
              <a:buNone/>
              <a:defRPr sz="800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4pPr>
            <a:lvl5pPr lvl="4" algn="r">
              <a:buNone/>
              <a:defRPr sz="800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5pPr>
            <a:lvl6pPr lvl="5" algn="r">
              <a:buNone/>
              <a:defRPr sz="800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6pPr>
            <a:lvl7pPr lvl="6" algn="r">
              <a:buNone/>
              <a:defRPr sz="800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7pPr>
            <a:lvl8pPr lvl="7" algn="r">
              <a:buNone/>
              <a:defRPr sz="800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8pPr>
            <a:lvl9pPr lvl="8" algn="r">
              <a:buNone/>
              <a:defRPr sz="800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  <p:sp>
        <p:nvSpPr>
          <p:cNvPr id="64" name="Google Shape;64;p16"/>
          <p:cNvSpPr txBox="1"/>
          <p:nvPr>
            <p:ph idx="1" type="body"/>
          </p:nvPr>
        </p:nvSpPr>
        <p:spPr>
          <a:xfrm>
            <a:off x="284700" y="1782325"/>
            <a:ext cx="42873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175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"/>
              <a:buChar char="●"/>
              <a:defRPr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"/>
              <a:buChar char="○"/>
              <a:defRPr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"/>
              <a:buChar char="■"/>
              <a:defRPr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"/>
              <a:buChar char="●"/>
              <a:defRPr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"/>
              <a:buChar char="○"/>
              <a:defRPr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"/>
              <a:buChar char="■"/>
              <a:defRPr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"/>
              <a:buChar char="●"/>
              <a:defRPr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"/>
              <a:buChar char="○"/>
              <a:defRPr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"/>
              <a:buChar char="■"/>
              <a:defRPr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65" name="Google Shape;65;p16"/>
          <p:cNvSpPr txBox="1"/>
          <p:nvPr>
            <p:ph type="title"/>
          </p:nvPr>
        </p:nvSpPr>
        <p:spPr>
          <a:xfrm>
            <a:off x="283475" y="420225"/>
            <a:ext cx="7323300" cy="572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anrope"/>
              <a:buNone/>
              <a:defRPr sz="2800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anrope"/>
              <a:buNone/>
              <a:defRPr sz="2800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anrope"/>
              <a:buNone/>
              <a:defRPr sz="2800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anrope"/>
              <a:buNone/>
              <a:defRPr sz="2800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anrope"/>
              <a:buNone/>
              <a:defRPr sz="2800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anrope"/>
              <a:buNone/>
              <a:defRPr sz="2800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anrope"/>
              <a:buNone/>
              <a:defRPr sz="2800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anrope"/>
              <a:buNone/>
              <a:defRPr sz="2800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anrope"/>
              <a:buNone/>
              <a:defRPr sz="2800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2" r:id="rId1"/>
    <p:sldLayoutId id="2147483663" r:id="rId2"/>
    <p:sldLayoutId id="2147483664" r:id="rId3"/>
    <p:sldLayoutId id="2147483665" r:id="rId4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300">
          <p15:clr>
            <a:schemeClr val="accent3"/>
          </p15:clr>
        </p15:guide>
        <p15:guide id="2" orient="horz" pos="300">
          <p15:clr>
            <a:schemeClr val="accent3"/>
          </p15:clr>
        </p15:guide>
        <p15:guide id="3" orient="horz" pos="899">
          <p15:clr>
            <a:schemeClr val="accent3"/>
          </p15:clr>
        </p15:guide>
        <p15:guide id="4" pos="1561">
          <p15:clr>
            <a:schemeClr val="accent3"/>
          </p15:clr>
        </p15:guide>
        <p15:guide id="5" pos="1619">
          <p15:clr>
            <a:schemeClr val="accent3"/>
          </p15:clr>
        </p15:guide>
        <p15:guide id="6" orient="horz" pos="962">
          <p15:clr>
            <a:schemeClr val="accent3"/>
          </p15:clr>
        </p15:guide>
        <p15:guide id="7" orient="horz" pos="1561">
          <p15:clr>
            <a:schemeClr val="accent3"/>
          </p15:clr>
        </p15:guide>
        <p15:guide id="8" orient="horz" pos="1619">
          <p15:clr>
            <a:schemeClr val="accent3"/>
          </p15:clr>
        </p15:guide>
        <p15:guide id="9" orient="horz" pos="2281">
          <p15:clr>
            <a:schemeClr val="accent3"/>
          </p15:clr>
        </p15:guide>
        <p15:guide id="10" orient="horz" pos="2339">
          <p15:clr>
            <a:schemeClr val="accent3"/>
          </p15:clr>
        </p15:guide>
        <p15:guide id="11" orient="horz" pos="2943">
          <p15:clr>
            <a:schemeClr val="accent3"/>
          </p15:clr>
        </p15:guide>
        <p15:guide id="12" pos="1981">
          <p15:clr>
            <a:schemeClr val="accent5"/>
          </p15:clr>
        </p15:guide>
        <p15:guide id="13" pos="2039">
          <p15:clr>
            <a:schemeClr val="accent5"/>
          </p15:clr>
        </p15:guide>
        <p15:guide id="14" pos="2880">
          <p15:clr>
            <a:schemeClr val="accent3"/>
          </p15:clr>
        </p15:guide>
        <p15:guide id="15" pos="2938">
          <p15:clr>
            <a:schemeClr val="accent3"/>
          </p15:clr>
        </p15:guide>
        <p15:guide id="16" pos="3721">
          <p15:clr>
            <a:schemeClr val="accent5"/>
          </p15:clr>
        </p15:guide>
        <p15:guide id="17" pos="3779">
          <p15:clr>
            <a:schemeClr val="accent5"/>
          </p15:clr>
        </p15:guide>
        <p15:guide id="18" pos="4141">
          <p15:clr>
            <a:schemeClr val="accent3"/>
          </p15:clr>
        </p15:guide>
        <p15:guide id="19" pos="4199">
          <p15:clr>
            <a:schemeClr val="accent3"/>
          </p15:clr>
        </p15:guide>
        <p15:guide id="20" pos="5460">
          <p15:clr>
            <a:schemeClr val="accent3"/>
          </p15:clr>
        </p15:guide>
        <p15:guide id="21" pos="179">
          <p15:clr>
            <a:schemeClr val="accent1"/>
          </p15:clr>
        </p15:guide>
        <p15:guide id="22" pos="5581">
          <p15:clr>
            <a:schemeClr val="accent1"/>
          </p15:clr>
        </p15:guide>
        <p15:guide id="23" orient="horz" pos="179">
          <p15:clr>
            <a:schemeClr val="accent1"/>
          </p15:clr>
        </p15:guide>
        <p15:guide id="24" orient="horz" pos="3059">
          <p15:clr>
            <a:schemeClr val="accent1"/>
          </p15:clr>
        </p15:guide>
      </p15:sldGuideLst>
    </p:ext>
  </p:extLst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4.png"/><Relationship Id="rId4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3.png"/><Relationship Id="rId4" Type="http://schemas.openxmlformats.org/officeDocument/2006/relationships/image" Target="../media/image10.png"/><Relationship Id="rId5" Type="http://schemas.openxmlformats.org/officeDocument/2006/relationships/image" Target="../media/image1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1"/>
          <p:cNvSpPr txBox="1"/>
          <p:nvPr>
            <p:ph type="ctrTitle"/>
          </p:nvPr>
        </p:nvSpPr>
        <p:spPr>
          <a:xfrm>
            <a:off x="311700" y="744575"/>
            <a:ext cx="8520600" cy="2932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Relatório e Análise Crítica do Desempenho de Árvores BST e AVL em Operações de Inserção e Busca</a:t>
            </a:r>
            <a:endParaRPr/>
          </a:p>
        </p:txBody>
      </p:sp>
      <p:sp>
        <p:nvSpPr>
          <p:cNvPr id="94" name="Google Shape;94;p21"/>
          <p:cNvSpPr txBox="1"/>
          <p:nvPr>
            <p:ph idx="1" type="subTitle"/>
          </p:nvPr>
        </p:nvSpPr>
        <p:spPr>
          <a:xfrm>
            <a:off x="311700" y="4002750"/>
            <a:ext cx="8520600" cy="975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Mestrado Profissional em Computa</a:t>
            </a:r>
            <a:r>
              <a:rPr lang="pt-BR"/>
              <a:t>ção Aplicada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>
                <a:solidFill>
                  <a:schemeClr val="dk1"/>
                </a:solidFill>
              </a:rPr>
              <a:t>Matheus dos Santos Moreira</a:t>
            </a:r>
            <a:endParaRPr sz="2200">
              <a:solidFill>
                <a:schemeClr val="dk1"/>
              </a:solidFill>
            </a:endParaRPr>
          </a:p>
        </p:txBody>
      </p:sp>
      <p:sp>
        <p:nvSpPr>
          <p:cNvPr id="95" name="Google Shape;95;p21"/>
          <p:cNvSpPr txBox="1"/>
          <p:nvPr>
            <p:ph idx="1" type="subTitle"/>
          </p:nvPr>
        </p:nvSpPr>
        <p:spPr>
          <a:xfrm>
            <a:off x="-438500" y="0"/>
            <a:ext cx="2812500" cy="67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500"/>
              <a:t>07</a:t>
            </a:r>
            <a:r>
              <a:rPr lang="pt-BR" sz="2500"/>
              <a:t>/04/2026</a:t>
            </a:r>
            <a:endParaRPr sz="25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2"/>
          <p:cNvSpPr txBox="1"/>
          <p:nvPr>
            <p:ph type="title"/>
          </p:nvPr>
        </p:nvSpPr>
        <p:spPr>
          <a:xfrm>
            <a:off x="507450" y="331400"/>
            <a:ext cx="8129100" cy="796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Introdução</a:t>
            </a:r>
            <a:endParaRPr/>
          </a:p>
        </p:txBody>
      </p:sp>
      <p:sp>
        <p:nvSpPr>
          <p:cNvPr id="100" name="Google Shape;100;p22"/>
          <p:cNvSpPr txBox="1"/>
          <p:nvPr>
            <p:ph idx="1" type="body"/>
          </p:nvPr>
        </p:nvSpPr>
        <p:spPr>
          <a:xfrm>
            <a:off x="654850" y="1598075"/>
            <a:ext cx="5750700" cy="325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pt-BR"/>
              <a:t>Introdução ao conceito de análise assintótica e sua relevância.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pt-BR"/>
              <a:t>Comparação entre árvores BST e AVL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pt-BR"/>
              <a:t>Impacto do balanceamento no desempenho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pt-BR"/>
              <a:t>Relação entre análise teórica e execução prática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pt-BR"/>
              <a:t>Avaliação experimental de inserção e busca</a:t>
            </a:r>
            <a:endParaRPr/>
          </a:p>
        </p:txBody>
      </p:sp>
      <p:pic>
        <p:nvPicPr>
          <p:cNvPr id="101" name="Google Shape;101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907025" y="1352550"/>
            <a:ext cx="2438400" cy="2438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3"/>
          <p:cNvSpPr txBox="1"/>
          <p:nvPr>
            <p:ph type="title"/>
          </p:nvPr>
        </p:nvSpPr>
        <p:spPr>
          <a:xfrm>
            <a:off x="507450" y="331400"/>
            <a:ext cx="8129100" cy="796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Conceitos b</a:t>
            </a:r>
            <a:r>
              <a:rPr lang="pt-BR"/>
              <a:t>ásicos: AVL/BST e Análise Assintótica</a:t>
            </a:r>
            <a:endParaRPr/>
          </a:p>
        </p:txBody>
      </p:sp>
      <p:sp>
        <p:nvSpPr>
          <p:cNvPr id="106" name="Google Shape;106;p23"/>
          <p:cNvSpPr txBox="1"/>
          <p:nvPr>
            <p:ph idx="1" type="body"/>
          </p:nvPr>
        </p:nvSpPr>
        <p:spPr>
          <a:xfrm>
            <a:off x="4572000" y="1426475"/>
            <a:ext cx="4631400" cy="3090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/>
          <a:p>
            <a:pPr indent="-31750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</a:pPr>
            <a:r>
              <a:rPr lang="pt-BR">
                <a:solidFill>
                  <a:srgbClr val="000000"/>
                </a:solidFill>
              </a:rPr>
              <a:t>BST: estrutura simples, pode desbalancear</a:t>
            </a:r>
            <a:endParaRPr>
              <a:solidFill>
                <a:srgbClr val="000000"/>
              </a:solidFill>
            </a:endParaRPr>
          </a:p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31750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</a:pPr>
            <a:r>
              <a:rPr lang="pt-BR">
                <a:solidFill>
                  <a:srgbClr val="000000"/>
                </a:solidFill>
              </a:rPr>
              <a:t>AVL: árvore balanceada com rotações</a:t>
            </a:r>
            <a:endParaRPr>
              <a:solidFill>
                <a:srgbClr val="000000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31750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</a:pPr>
            <a:r>
              <a:rPr lang="pt-BR">
                <a:solidFill>
                  <a:srgbClr val="000000"/>
                </a:solidFill>
              </a:rPr>
              <a:t>Desempenho depende da </a:t>
            </a:r>
            <a:r>
              <a:rPr b="1" lang="pt-BR">
                <a:solidFill>
                  <a:srgbClr val="000000"/>
                </a:solidFill>
              </a:rPr>
              <a:t>altura da árvore</a:t>
            </a:r>
            <a:endParaRPr b="1">
              <a:solidFill>
                <a:srgbClr val="000000"/>
              </a:solidFill>
            </a:endParaRPr>
          </a:p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rgbClr val="000000"/>
              </a:solidFill>
            </a:endParaRPr>
          </a:p>
          <a:p>
            <a:pPr indent="-31750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</a:pPr>
            <a:r>
              <a:rPr lang="pt-BR">
                <a:solidFill>
                  <a:srgbClr val="000000"/>
                </a:solidFill>
              </a:rPr>
              <a:t>Análise assintótica ajuda a prever esse comportamento </a:t>
            </a:r>
            <a:endParaRPr/>
          </a:p>
        </p:txBody>
      </p:sp>
      <p:pic>
        <p:nvPicPr>
          <p:cNvPr id="107" name="Google Shape;107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81188" y="2839200"/>
            <a:ext cx="3193676" cy="20162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08" name="Google Shape;108;p23" title="images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360125" y="1280000"/>
            <a:ext cx="2418709" cy="1406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24"/>
          <p:cNvSpPr txBox="1"/>
          <p:nvPr>
            <p:ph type="title"/>
          </p:nvPr>
        </p:nvSpPr>
        <p:spPr>
          <a:xfrm>
            <a:off x="507450" y="331400"/>
            <a:ext cx="8129100" cy="796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Base de dados</a:t>
            </a:r>
            <a:endParaRPr/>
          </a:p>
        </p:txBody>
      </p:sp>
      <p:sp>
        <p:nvSpPr>
          <p:cNvPr id="113" name="Google Shape;113;p24"/>
          <p:cNvSpPr txBox="1"/>
          <p:nvPr>
            <p:ph idx="1" type="body"/>
          </p:nvPr>
        </p:nvSpPr>
        <p:spPr>
          <a:xfrm>
            <a:off x="178331" y="1373926"/>
            <a:ext cx="4782300" cy="3090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 lnSpcReduction="10000"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pt-BR"/>
              <a:t>Dados carregados a partir de um arquivo CSV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pt-BR"/>
              <a:t>Informações de funcionários (ID, salário, etc.)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pt-BR"/>
              <a:t>Subconjuntos de tamanhos: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pt-BR"/>
              <a:t>1.000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pt-BR"/>
              <a:t>5.000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pt-BR"/>
              <a:t>10.000 elementos</a:t>
            </a:r>
            <a:endParaRPr/>
          </a:p>
          <a:p>
            <a:pPr indent="0" lvl="0" marL="9144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317500" lvl="0" marL="457200" rtl="0" algn="l">
              <a:spcBef>
                <a:spcPts val="1200"/>
              </a:spcBef>
              <a:spcAft>
                <a:spcPts val="0"/>
              </a:spcAft>
              <a:buSzPts val="1400"/>
              <a:buChar char="●"/>
            </a:pPr>
            <a:r>
              <a:rPr lang="pt-BR"/>
              <a:t>Dados organizados em dois padrões: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pt-BR"/>
              <a:t>Ordenado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pt-BR"/>
              <a:t>Aleatório</a:t>
            </a:r>
            <a:endParaRPr/>
          </a:p>
        </p:txBody>
      </p:sp>
      <p:pic>
        <p:nvPicPr>
          <p:cNvPr id="114" name="Google Shape;114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265432" y="973750"/>
            <a:ext cx="3878568" cy="328385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5"/>
          <p:cNvSpPr txBox="1"/>
          <p:nvPr>
            <p:ph type="title"/>
          </p:nvPr>
        </p:nvSpPr>
        <p:spPr>
          <a:xfrm>
            <a:off x="301750" y="310900"/>
            <a:ext cx="2698200" cy="1965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Metodologia Experimental</a:t>
            </a:r>
            <a:endParaRPr/>
          </a:p>
        </p:txBody>
      </p:sp>
      <p:sp>
        <p:nvSpPr>
          <p:cNvPr id="119" name="Google Shape;119;p25"/>
          <p:cNvSpPr txBox="1"/>
          <p:nvPr>
            <p:ph idx="1" type="body"/>
          </p:nvPr>
        </p:nvSpPr>
        <p:spPr>
          <a:xfrm>
            <a:off x="3748896" y="1365775"/>
            <a:ext cx="2167200" cy="1536300"/>
          </a:xfrm>
          <a:prstGeom prst="rect">
            <a:avLst/>
          </a:prstGeom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Utilização da linguagem Rust e 'std::time' para medições de tempo.</a:t>
            </a:r>
            <a:endParaRPr/>
          </a:p>
        </p:txBody>
      </p:sp>
      <p:sp>
        <p:nvSpPr>
          <p:cNvPr id="120" name="Google Shape;120;p25"/>
          <p:cNvSpPr txBox="1"/>
          <p:nvPr>
            <p:ph idx="4294967295" type="body"/>
          </p:nvPr>
        </p:nvSpPr>
        <p:spPr>
          <a:xfrm>
            <a:off x="6656122" y="1365779"/>
            <a:ext cx="2167200" cy="1536300"/>
          </a:xfrm>
          <a:prstGeom prst="rect">
            <a:avLst/>
          </a:prstGeom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Testes em árvores de 1.000, 5.000 e 10.000 itens com dois estados de inicialização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25"/>
          <p:cNvSpPr txBox="1"/>
          <p:nvPr>
            <p:ph idx="4294967295" type="body"/>
          </p:nvPr>
        </p:nvSpPr>
        <p:spPr>
          <a:xfrm>
            <a:off x="6656122" y="3084851"/>
            <a:ext cx="2167200" cy="1536300"/>
          </a:xfrm>
          <a:prstGeom prst="rect">
            <a:avLst/>
          </a:prstGeom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Realizadas 90 execuções totais para mitigar influência de outliers.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" name="Google Shape;122;p25"/>
          <p:cNvSpPr txBox="1"/>
          <p:nvPr>
            <p:ph idx="4294967295" type="body"/>
          </p:nvPr>
        </p:nvSpPr>
        <p:spPr>
          <a:xfrm>
            <a:off x="3748896" y="3084851"/>
            <a:ext cx="2167200" cy="1536300"/>
          </a:xfrm>
          <a:prstGeom prst="rect">
            <a:avLst/>
          </a:prstGeom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Hardware específico utilizado: Apple M4 (10 núcleos) e 24GB RAM</a:t>
            </a:r>
            <a:endParaRPr/>
          </a:p>
        </p:txBody>
      </p:sp>
      <p:pic>
        <p:nvPicPr>
          <p:cNvPr id="123" name="Google Shape;123;p25" title="images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79238" y="2478013"/>
            <a:ext cx="2143125" cy="2143125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25"/>
          <p:cNvSpPr txBox="1"/>
          <p:nvPr>
            <p:ph idx="1" type="body"/>
          </p:nvPr>
        </p:nvSpPr>
        <p:spPr>
          <a:xfrm>
            <a:off x="3395301" y="3084850"/>
            <a:ext cx="243900" cy="255300"/>
          </a:xfrm>
          <a:prstGeom prst="rect">
            <a:avLst/>
          </a:prstGeom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>
                <a:solidFill>
                  <a:srgbClr val="999999"/>
                </a:solidFill>
              </a:rPr>
              <a:t>02</a:t>
            </a:r>
            <a:endParaRPr>
              <a:solidFill>
                <a:srgbClr val="999999"/>
              </a:solidFill>
            </a:endParaRPr>
          </a:p>
        </p:txBody>
      </p:sp>
      <p:sp>
        <p:nvSpPr>
          <p:cNvPr id="125" name="Google Shape;125;p25"/>
          <p:cNvSpPr txBox="1"/>
          <p:nvPr>
            <p:ph idx="1" type="body"/>
          </p:nvPr>
        </p:nvSpPr>
        <p:spPr>
          <a:xfrm>
            <a:off x="3395301" y="1365775"/>
            <a:ext cx="243900" cy="255300"/>
          </a:xfrm>
          <a:prstGeom prst="rect">
            <a:avLst/>
          </a:prstGeom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>
                <a:solidFill>
                  <a:srgbClr val="999999"/>
                </a:solidFill>
              </a:rPr>
              <a:t>01</a:t>
            </a:r>
            <a:endParaRPr>
              <a:solidFill>
                <a:srgbClr val="999999"/>
              </a:solidFill>
            </a:endParaRPr>
          </a:p>
        </p:txBody>
      </p:sp>
      <p:sp>
        <p:nvSpPr>
          <p:cNvPr id="126" name="Google Shape;126;p25"/>
          <p:cNvSpPr txBox="1"/>
          <p:nvPr>
            <p:ph idx="1" type="body"/>
          </p:nvPr>
        </p:nvSpPr>
        <p:spPr>
          <a:xfrm>
            <a:off x="6330626" y="3084850"/>
            <a:ext cx="243900" cy="255300"/>
          </a:xfrm>
          <a:prstGeom prst="rect">
            <a:avLst/>
          </a:prstGeom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>
                <a:solidFill>
                  <a:srgbClr val="999999"/>
                </a:solidFill>
              </a:rPr>
              <a:t>04</a:t>
            </a:r>
            <a:endParaRPr>
              <a:solidFill>
                <a:srgbClr val="999999"/>
              </a:solidFill>
            </a:endParaRPr>
          </a:p>
        </p:txBody>
      </p:sp>
      <p:sp>
        <p:nvSpPr>
          <p:cNvPr id="127" name="Google Shape;127;p25"/>
          <p:cNvSpPr txBox="1"/>
          <p:nvPr>
            <p:ph idx="1" type="body"/>
          </p:nvPr>
        </p:nvSpPr>
        <p:spPr>
          <a:xfrm>
            <a:off x="6330626" y="1365775"/>
            <a:ext cx="243900" cy="255300"/>
          </a:xfrm>
          <a:prstGeom prst="rect">
            <a:avLst/>
          </a:prstGeom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>
                <a:solidFill>
                  <a:srgbClr val="999999"/>
                </a:solidFill>
              </a:rPr>
              <a:t>03</a:t>
            </a:r>
            <a:endParaRPr>
              <a:solidFill>
                <a:srgbClr val="999999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26" title="Gráfico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65775" y="2672999"/>
            <a:ext cx="3773425" cy="2264061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" name="Google Shape;132;p26" title="Gráfico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065775" y="294450"/>
            <a:ext cx="3773425" cy="2264055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6"/>
          <p:cNvSpPr txBox="1"/>
          <p:nvPr>
            <p:ph type="title"/>
          </p:nvPr>
        </p:nvSpPr>
        <p:spPr>
          <a:xfrm>
            <a:off x="507450" y="331400"/>
            <a:ext cx="8129100" cy="796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Resultados</a:t>
            </a:r>
            <a:endParaRPr/>
          </a:p>
        </p:txBody>
      </p:sp>
      <p:sp>
        <p:nvSpPr>
          <p:cNvPr id="134" name="Google Shape;134;p26"/>
          <p:cNvSpPr txBox="1"/>
          <p:nvPr>
            <p:ph idx="1" type="body"/>
          </p:nvPr>
        </p:nvSpPr>
        <p:spPr>
          <a:xfrm>
            <a:off x="283475" y="1785950"/>
            <a:ext cx="6038700" cy="3631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/>
          <a:p>
            <a:pPr indent="-29845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pt-BR"/>
              <a:t>AVL mantém desempenho estável → O(log n)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29845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pt-BR"/>
              <a:t>BST com dados ordenados → comportamento O(n)</a:t>
            </a:r>
            <a:endParaRPr/>
          </a:p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29845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pt-BR"/>
              <a:t>Em dados aleatórios: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</a:pPr>
            <a:r>
              <a:rPr lang="pt-BR"/>
              <a:t>BST ≈ AVL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</a:pPr>
            <a:r>
              <a:rPr lang="pt-BR"/>
              <a:t>AVL levemente mais lenta (rotações) </a:t>
            </a:r>
            <a:endParaRPr/>
          </a:p>
        </p:txBody>
      </p:sp>
      <p:sp>
        <p:nvSpPr>
          <p:cNvPr id="135" name="Google Shape;135;p26"/>
          <p:cNvSpPr txBox="1"/>
          <p:nvPr>
            <p:ph type="title"/>
          </p:nvPr>
        </p:nvSpPr>
        <p:spPr>
          <a:xfrm>
            <a:off x="659850" y="888600"/>
            <a:ext cx="3483600" cy="796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>
                <a:solidFill>
                  <a:srgbClr val="D9D9D9"/>
                </a:solidFill>
              </a:rPr>
              <a:t>Inserção</a:t>
            </a:r>
            <a:endParaRPr sz="2200">
              <a:solidFill>
                <a:srgbClr val="D9D9D9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7"/>
          <p:cNvSpPr txBox="1"/>
          <p:nvPr>
            <p:ph type="title"/>
          </p:nvPr>
        </p:nvSpPr>
        <p:spPr>
          <a:xfrm>
            <a:off x="507450" y="331400"/>
            <a:ext cx="8129100" cy="796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Resultados</a:t>
            </a:r>
            <a:endParaRPr/>
          </a:p>
        </p:txBody>
      </p:sp>
      <p:sp>
        <p:nvSpPr>
          <p:cNvPr id="140" name="Google Shape;140;p27"/>
          <p:cNvSpPr txBox="1"/>
          <p:nvPr>
            <p:ph idx="1" type="body"/>
          </p:nvPr>
        </p:nvSpPr>
        <p:spPr>
          <a:xfrm>
            <a:off x="4365800" y="1684800"/>
            <a:ext cx="6038700" cy="3631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/>
          <a:p>
            <a:pPr indent="-31750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</a:pPr>
            <a:r>
              <a:rPr lang="pt-BR">
                <a:solidFill>
                  <a:srgbClr val="000000"/>
                </a:solidFill>
              </a:rPr>
              <a:t>Com dados ordenados:</a:t>
            </a:r>
            <a:endParaRPr>
              <a:solidFill>
                <a:srgbClr val="000000"/>
              </a:solidFill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</a:pPr>
            <a:r>
              <a:rPr lang="pt-BR">
                <a:solidFill>
                  <a:srgbClr val="000000"/>
                </a:solidFill>
              </a:rPr>
              <a:t>BST degrada → busca O(n)</a:t>
            </a:r>
            <a:endParaRPr>
              <a:solidFill>
                <a:srgbClr val="000000"/>
              </a:solidFill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</a:pPr>
            <a:r>
              <a:rPr lang="pt-BR">
                <a:solidFill>
                  <a:srgbClr val="000000"/>
                </a:solidFill>
              </a:rPr>
              <a:t>AVL mantém O(log n)</a:t>
            </a:r>
            <a:endParaRPr>
              <a:solidFill>
                <a:srgbClr val="000000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31750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</a:pPr>
            <a:r>
              <a:rPr lang="pt-BR">
                <a:solidFill>
                  <a:srgbClr val="000000"/>
                </a:solidFill>
              </a:rPr>
              <a:t>Com dados aleatórios:</a:t>
            </a:r>
            <a:endParaRPr>
              <a:solidFill>
                <a:srgbClr val="000000"/>
              </a:solidFill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</a:pPr>
            <a:r>
              <a:rPr lang="pt-BR">
                <a:solidFill>
                  <a:srgbClr val="000000"/>
                </a:solidFill>
              </a:rPr>
              <a:t>BST ≈ AVL</a:t>
            </a:r>
            <a:endParaRPr>
              <a:solidFill>
                <a:srgbClr val="000000"/>
              </a:solidFill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</a:pPr>
            <a:r>
              <a:rPr lang="pt-BR">
                <a:solidFill>
                  <a:srgbClr val="000000"/>
                </a:solidFill>
              </a:rPr>
              <a:t>ambas com bom desempenho</a:t>
            </a:r>
            <a:endParaRPr>
              <a:solidFill>
                <a:srgbClr val="000000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31750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lang="pt-BR">
                <a:solidFill>
                  <a:srgbClr val="000000"/>
                </a:solidFill>
              </a:rPr>
              <a:t>Desempenho diretamente ligado à </a:t>
            </a:r>
            <a:r>
              <a:rPr b="1" lang="pt-BR">
                <a:solidFill>
                  <a:srgbClr val="000000"/>
                </a:solidFill>
              </a:rPr>
              <a:t>altura da árvore</a:t>
            </a:r>
            <a:endParaRPr/>
          </a:p>
        </p:txBody>
      </p:sp>
      <p:sp>
        <p:nvSpPr>
          <p:cNvPr id="141" name="Google Shape;141;p27"/>
          <p:cNvSpPr txBox="1"/>
          <p:nvPr>
            <p:ph type="title"/>
          </p:nvPr>
        </p:nvSpPr>
        <p:spPr>
          <a:xfrm>
            <a:off x="659850" y="888600"/>
            <a:ext cx="3483600" cy="796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>
                <a:solidFill>
                  <a:srgbClr val="D9D9D9"/>
                </a:solidFill>
              </a:rPr>
              <a:t>Busca por Chave</a:t>
            </a:r>
            <a:endParaRPr sz="2200">
              <a:solidFill>
                <a:srgbClr val="D9D9D9"/>
              </a:solidFill>
            </a:endParaRPr>
          </a:p>
        </p:txBody>
      </p:sp>
      <p:pic>
        <p:nvPicPr>
          <p:cNvPr id="142" name="Google Shape;142;p27" title="Gráfico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70263" y="1580837"/>
            <a:ext cx="2673175" cy="160388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27" title="Gráfico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63800" y="3311123"/>
            <a:ext cx="2673175" cy="1603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8"/>
          <p:cNvSpPr txBox="1"/>
          <p:nvPr>
            <p:ph type="title"/>
          </p:nvPr>
        </p:nvSpPr>
        <p:spPr>
          <a:xfrm>
            <a:off x="507450" y="331400"/>
            <a:ext cx="8129100" cy="796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Resultados</a:t>
            </a:r>
            <a:endParaRPr/>
          </a:p>
        </p:txBody>
      </p:sp>
      <p:sp>
        <p:nvSpPr>
          <p:cNvPr id="148" name="Google Shape;148;p28"/>
          <p:cNvSpPr txBox="1"/>
          <p:nvPr>
            <p:ph idx="1" type="body"/>
          </p:nvPr>
        </p:nvSpPr>
        <p:spPr>
          <a:xfrm>
            <a:off x="588425" y="1527050"/>
            <a:ext cx="3962100" cy="3489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19405" lvl="0" marL="45720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430"/>
              <a:buChar char="●"/>
            </a:pPr>
            <a:r>
              <a:rPr lang="pt-BR" sz="1430">
                <a:solidFill>
                  <a:srgbClr val="000000"/>
                </a:solidFill>
              </a:rPr>
              <a:t>BST ≈ AVL em todos os cenários</a:t>
            </a:r>
            <a:endParaRPr sz="1430">
              <a:solidFill>
                <a:srgbClr val="000000"/>
              </a:solidFill>
            </a:endParaRPr>
          </a:p>
          <a:p>
            <a:pPr indent="0" lvl="0" marL="45720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430">
              <a:solidFill>
                <a:srgbClr val="000000"/>
              </a:solidFill>
            </a:endParaRPr>
          </a:p>
          <a:p>
            <a:pPr indent="-319405" lvl="0" marL="45720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430"/>
              <a:buChar char="●"/>
            </a:pPr>
            <a:r>
              <a:rPr lang="pt-BR" sz="1430">
                <a:solidFill>
                  <a:srgbClr val="000000"/>
                </a:solidFill>
              </a:rPr>
              <a:t>Tempo de execução cresce linearmente</a:t>
            </a:r>
            <a:endParaRPr sz="1430">
              <a:solidFill>
                <a:srgbClr val="000000"/>
              </a:solidFill>
            </a:endParaRPr>
          </a:p>
          <a:p>
            <a:pPr indent="0" lvl="0" marL="45720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430">
              <a:solidFill>
                <a:srgbClr val="000000"/>
              </a:solidFill>
            </a:endParaRPr>
          </a:p>
          <a:p>
            <a:pPr indent="-319405" lvl="0" marL="45720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430"/>
              <a:buChar char="●"/>
            </a:pPr>
            <a:r>
              <a:rPr lang="pt-BR" sz="1430">
                <a:solidFill>
                  <a:srgbClr val="000000"/>
                </a:solidFill>
              </a:rPr>
              <a:t>Complexidade: </a:t>
            </a:r>
            <a:r>
              <a:rPr b="1" lang="pt-BR" sz="1430">
                <a:solidFill>
                  <a:srgbClr val="000000"/>
                </a:solidFill>
              </a:rPr>
              <a:t>O(n)</a:t>
            </a:r>
            <a:endParaRPr b="1" sz="1430">
              <a:solidFill>
                <a:srgbClr val="000000"/>
              </a:solidFill>
            </a:endParaRPr>
          </a:p>
          <a:p>
            <a:pPr indent="0" lvl="0" marL="45720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1" sz="1430">
              <a:solidFill>
                <a:srgbClr val="000000"/>
              </a:solidFill>
            </a:endParaRPr>
          </a:p>
          <a:p>
            <a:pPr indent="-319405" lvl="0" marL="45720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430"/>
              <a:buChar char="●"/>
            </a:pPr>
            <a:r>
              <a:rPr lang="pt-BR" sz="1430">
                <a:solidFill>
                  <a:srgbClr val="000000"/>
                </a:solidFill>
              </a:rPr>
              <a:t>Não é possível usar a propriedade de busca binária</a:t>
            </a:r>
            <a:endParaRPr sz="1430">
              <a:solidFill>
                <a:srgbClr val="000000"/>
              </a:solidFill>
            </a:endParaRPr>
          </a:p>
          <a:p>
            <a:pPr indent="0" lvl="0" marL="45720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430">
              <a:solidFill>
                <a:srgbClr val="000000"/>
              </a:solidFill>
            </a:endParaRPr>
          </a:p>
          <a:p>
            <a:pPr indent="-319405" lvl="0" marL="45720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430"/>
              <a:buChar char="●"/>
            </a:pPr>
            <a:r>
              <a:rPr lang="pt-BR" sz="1430">
                <a:solidFill>
                  <a:srgbClr val="000000"/>
                </a:solidFill>
              </a:rPr>
              <a:t>Utilizar estruturas auxiliares </a:t>
            </a:r>
            <a:r>
              <a:rPr lang="pt-BR">
                <a:solidFill>
                  <a:srgbClr val="000000"/>
                </a:solidFill>
              </a:rPr>
              <a:t>→ </a:t>
            </a:r>
            <a:r>
              <a:rPr lang="pt-BR" sz="1430">
                <a:solidFill>
                  <a:srgbClr val="000000"/>
                </a:solidFill>
              </a:rPr>
              <a:t>O(log n + k)</a:t>
            </a:r>
            <a:endParaRPr sz="1430">
              <a:solidFill>
                <a:srgbClr val="000000"/>
              </a:solidFill>
            </a:endParaRPr>
          </a:p>
        </p:txBody>
      </p:sp>
      <p:sp>
        <p:nvSpPr>
          <p:cNvPr id="149" name="Google Shape;149;p28"/>
          <p:cNvSpPr txBox="1"/>
          <p:nvPr>
            <p:ph type="title"/>
          </p:nvPr>
        </p:nvSpPr>
        <p:spPr>
          <a:xfrm>
            <a:off x="659850" y="888600"/>
            <a:ext cx="6710100" cy="796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>
                <a:solidFill>
                  <a:srgbClr val="D9D9D9"/>
                </a:solidFill>
              </a:rPr>
              <a:t>Busca por Sal</a:t>
            </a:r>
            <a:r>
              <a:rPr lang="pt-BR" sz="2200">
                <a:solidFill>
                  <a:srgbClr val="D9D9D9"/>
                </a:solidFill>
              </a:rPr>
              <a:t>ário (</a:t>
            </a:r>
            <a:r>
              <a:rPr lang="pt-BR" sz="2200">
                <a:solidFill>
                  <a:srgbClr val="D9D9D9"/>
                </a:solidFill>
              </a:rPr>
              <a:t>Campo N</a:t>
            </a:r>
            <a:r>
              <a:rPr lang="pt-BR" sz="2200">
                <a:solidFill>
                  <a:srgbClr val="D9D9D9"/>
                </a:solidFill>
              </a:rPr>
              <a:t>ão Chave)</a:t>
            </a:r>
            <a:endParaRPr sz="2200">
              <a:solidFill>
                <a:srgbClr val="D9D9D9"/>
              </a:solidFill>
            </a:endParaRPr>
          </a:p>
        </p:txBody>
      </p:sp>
      <p:pic>
        <p:nvPicPr>
          <p:cNvPr id="150" name="Google Shape;150;p28" title="Gráfico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30000" y="1684800"/>
            <a:ext cx="4147325" cy="2488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9"/>
          <p:cNvSpPr txBox="1"/>
          <p:nvPr>
            <p:ph type="title"/>
          </p:nvPr>
        </p:nvSpPr>
        <p:spPr>
          <a:xfrm>
            <a:off x="507450" y="331400"/>
            <a:ext cx="8129100" cy="796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Resultados</a:t>
            </a:r>
            <a:endParaRPr/>
          </a:p>
        </p:txBody>
      </p:sp>
      <p:sp>
        <p:nvSpPr>
          <p:cNvPr id="155" name="Google Shape;155;p29"/>
          <p:cNvSpPr txBox="1"/>
          <p:nvPr>
            <p:ph idx="1" type="body"/>
          </p:nvPr>
        </p:nvSpPr>
        <p:spPr>
          <a:xfrm>
            <a:off x="5258050" y="1896725"/>
            <a:ext cx="6038700" cy="3631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/>
          <a:p>
            <a:pPr indent="-29845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pt-BR">
                <a:solidFill>
                  <a:srgbClr val="000000"/>
                </a:solidFill>
              </a:rPr>
              <a:t>BST (ordenado):</a:t>
            </a:r>
            <a:endParaRPr>
              <a:solidFill>
                <a:srgbClr val="000000"/>
              </a:solidFill>
            </a:endParaRPr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</a:pPr>
            <a:r>
              <a:rPr lang="pt-BR">
                <a:solidFill>
                  <a:srgbClr val="000000"/>
                </a:solidFill>
              </a:rPr>
              <a:t>altura ≈ n → degradação total</a:t>
            </a:r>
            <a:endParaRPr>
              <a:solidFill>
                <a:srgbClr val="000000"/>
              </a:solidFill>
            </a:endParaRPr>
          </a:p>
          <a:p>
            <a:pPr indent="0" lvl="0" marL="9144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9845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pt-BR">
                <a:solidFill>
                  <a:srgbClr val="000000"/>
                </a:solidFill>
              </a:rPr>
              <a:t>BST (aleatório):</a:t>
            </a:r>
            <a:endParaRPr>
              <a:solidFill>
                <a:srgbClr val="000000"/>
              </a:solidFill>
            </a:endParaRPr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</a:pPr>
            <a:r>
              <a:rPr lang="pt-BR">
                <a:solidFill>
                  <a:srgbClr val="000000"/>
                </a:solidFill>
              </a:rPr>
              <a:t>altura ≈ log n</a:t>
            </a:r>
            <a:endParaRPr>
              <a:solidFill>
                <a:srgbClr val="000000"/>
              </a:solidFill>
            </a:endParaRPr>
          </a:p>
          <a:p>
            <a:pPr indent="0" lvl="0" marL="9144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9845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pt-BR">
                <a:solidFill>
                  <a:srgbClr val="000000"/>
                </a:solidFill>
              </a:rPr>
              <a:t>AVL:</a:t>
            </a:r>
            <a:endParaRPr>
              <a:solidFill>
                <a:srgbClr val="000000"/>
              </a:solidFill>
            </a:endParaRPr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</a:pPr>
            <a:r>
              <a:rPr lang="pt-BR">
                <a:solidFill>
                  <a:srgbClr val="000000"/>
                </a:solidFill>
              </a:rPr>
              <a:t>altura ≈ log n em todos os casos</a:t>
            </a:r>
            <a:endParaRPr>
              <a:solidFill>
                <a:srgbClr val="000000"/>
              </a:solidFill>
            </a:endParaRPr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</a:pPr>
            <a:r>
              <a:rPr lang="pt-BR">
                <a:solidFill>
                  <a:srgbClr val="000000"/>
                </a:solidFill>
              </a:rPr>
              <a:t>balanceamento garante estabilidade </a:t>
            </a:r>
            <a:endParaRPr>
              <a:solidFill>
                <a:srgbClr val="000000"/>
              </a:solidFill>
            </a:endParaRPr>
          </a:p>
        </p:txBody>
      </p:sp>
      <p:sp>
        <p:nvSpPr>
          <p:cNvPr id="156" name="Google Shape;156;p29"/>
          <p:cNvSpPr txBox="1"/>
          <p:nvPr>
            <p:ph type="title"/>
          </p:nvPr>
        </p:nvSpPr>
        <p:spPr>
          <a:xfrm>
            <a:off x="659850" y="888600"/>
            <a:ext cx="6710100" cy="796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>
                <a:solidFill>
                  <a:srgbClr val="D9D9D9"/>
                </a:solidFill>
              </a:rPr>
              <a:t>Alturas das Árvores</a:t>
            </a:r>
            <a:endParaRPr sz="2200">
              <a:solidFill>
                <a:srgbClr val="D9D9D9"/>
              </a:solidFill>
            </a:endParaRPr>
          </a:p>
        </p:txBody>
      </p:sp>
      <p:pic>
        <p:nvPicPr>
          <p:cNvPr id="157" name="Google Shape;157;p29" title="Gráfico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5125" y="1684795"/>
            <a:ext cx="4445800" cy="2667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30"/>
          <p:cNvSpPr txBox="1"/>
          <p:nvPr>
            <p:ph type="title"/>
          </p:nvPr>
        </p:nvSpPr>
        <p:spPr>
          <a:xfrm>
            <a:off x="507450" y="331400"/>
            <a:ext cx="8129100" cy="796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A</a:t>
            </a:r>
            <a:r>
              <a:rPr lang="pt-BR"/>
              <a:t>nálise dos Resultados Experimentais</a:t>
            </a:r>
            <a:endParaRPr/>
          </a:p>
        </p:txBody>
      </p:sp>
      <p:sp>
        <p:nvSpPr>
          <p:cNvPr id="162" name="Google Shape;162;p30"/>
          <p:cNvSpPr txBox="1"/>
          <p:nvPr>
            <p:ph idx="1" type="body"/>
          </p:nvPr>
        </p:nvSpPr>
        <p:spPr>
          <a:xfrm>
            <a:off x="604450" y="1215213"/>
            <a:ext cx="4059000" cy="3631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/>
          <a:p>
            <a:pPr indent="-29845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pt-BR">
                <a:solidFill>
                  <a:srgbClr val="000000"/>
                </a:solidFill>
              </a:rPr>
              <a:t>Resultados confirmam a análise teórica</a:t>
            </a:r>
            <a:endParaRPr>
              <a:solidFill>
                <a:srgbClr val="000000"/>
              </a:solidFill>
            </a:endParaRPr>
          </a:p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9845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pt-BR">
                <a:solidFill>
                  <a:srgbClr val="000000"/>
                </a:solidFill>
              </a:rPr>
              <a:t>BST é sensível ao padrão de entrada</a:t>
            </a:r>
            <a:endParaRPr>
              <a:solidFill>
                <a:srgbClr val="000000"/>
              </a:solidFill>
            </a:endParaRPr>
          </a:p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9845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pt-BR">
                <a:solidFill>
                  <a:srgbClr val="000000"/>
                </a:solidFill>
              </a:rPr>
              <a:t>AVL garante desempenho consistente</a:t>
            </a:r>
            <a:endParaRPr>
              <a:solidFill>
                <a:srgbClr val="000000"/>
              </a:solidFill>
            </a:endParaRPr>
          </a:p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9845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pt-BR">
                <a:solidFill>
                  <a:srgbClr val="000000"/>
                </a:solidFill>
              </a:rPr>
              <a:t>Existe trade-off:</a:t>
            </a:r>
            <a:endParaRPr>
              <a:solidFill>
                <a:srgbClr val="000000"/>
              </a:solidFill>
            </a:endParaRPr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</a:pPr>
            <a:r>
              <a:rPr lang="pt-BR">
                <a:solidFill>
                  <a:srgbClr val="000000"/>
                </a:solidFill>
              </a:rPr>
              <a:t>AVL → mais custo (rotações)</a:t>
            </a:r>
            <a:endParaRPr>
              <a:solidFill>
                <a:srgbClr val="000000"/>
              </a:solidFill>
            </a:endParaRPr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</a:pPr>
            <a:r>
              <a:rPr lang="pt-BR">
                <a:solidFill>
                  <a:srgbClr val="000000"/>
                </a:solidFill>
              </a:rPr>
              <a:t>BST → mais simples </a:t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63" name="Google Shape;163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31476" y="2050569"/>
            <a:ext cx="1933875" cy="1249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64" name="Google Shape;164;p3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183700" y="2050563"/>
            <a:ext cx="2495650" cy="1661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3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469701" y="2668451"/>
            <a:ext cx="725024" cy="7250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31"/>
          <p:cNvSpPr txBox="1"/>
          <p:nvPr>
            <p:ph type="title"/>
          </p:nvPr>
        </p:nvSpPr>
        <p:spPr>
          <a:xfrm>
            <a:off x="507450" y="331400"/>
            <a:ext cx="8129100" cy="796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Conclus</a:t>
            </a:r>
            <a:r>
              <a:rPr lang="pt-BR"/>
              <a:t>ão</a:t>
            </a:r>
            <a:endParaRPr/>
          </a:p>
        </p:txBody>
      </p:sp>
      <p:sp>
        <p:nvSpPr>
          <p:cNvPr id="170" name="Google Shape;170;p31"/>
          <p:cNvSpPr txBox="1"/>
          <p:nvPr>
            <p:ph idx="1" type="body"/>
          </p:nvPr>
        </p:nvSpPr>
        <p:spPr>
          <a:xfrm>
            <a:off x="4801525" y="1347388"/>
            <a:ext cx="4059000" cy="3631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/>
          <a:p>
            <a:pPr indent="-29845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pt-BR">
                <a:solidFill>
                  <a:srgbClr val="000000"/>
                </a:solidFill>
              </a:rPr>
              <a:t>BST pode degradar para O(n) dependendo da entrada</a:t>
            </a:r>
            <a:endParaRPr>
              <a:solidFill>
                <a:srgbClr val="000000"/>
              </a:solidFill>
            </a:endParaRPr>
          </a:p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9845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pt-BR">
                <a:solidFill>
                  <a:srgbClr val="000000"/>
                </a:solidFill>
              </a:rPr>
              <a:t>AVL garante desempenho O(log n)</a:t>
            </a:r>
            <a:endParaRPr>
              <a:solidFill>
                <a:srgbClr val="000000"/>
              </a:solidFill>
            </a:endParaRPr>
          </a:p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9845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pt-BR">
                <a:solidFill>
                  <a:srgbClr val="000000"/>
                </a:solidFill>
              </a:rPr>
              <a:t>Altura da árvore é o fator determinante</a:t>
            </a:r>
            <a:endParaRPr>
              <a:solidFill>
                <a:srgbClr val="000000"/>
              </a:solidFill>
            </a:endParaRPr>
          </a:p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9845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pt-BR">
                <a:solidFill>
                  <a:srgbClr val="000000"/>
                </a:solidFill>
              </a:rPr>
              <a:t>Escolha da estrutura depende do cenário </a:t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71" name="Google Shape;171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2475" y="1901851"/>
            <a:ext cx="2801946" cy="1810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Google Shape;175;p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15650" y="3621027"/>
            <a:ext cx="1287849" cy="1279783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32"/>
          <p:cNvSpPr txBox="1"/>
          <p:nvPr>
            <p:ph type="title"/>
          </p:nvPr>
        </p:nvSpPr>
        <p:spPr>
          <a:xfrm>
            <a:off x="3787200" y="2345250"/>
            <a:ext cx="1569600" cy="453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Obrigado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Quarterly business review">
  <a:themeElements>
    <a:clrScheme name="Simple Light">
      <a:dk1>
        <a:srgbClr val="131313"/>
      </a:dk1>
      <a:lt1>
        <a:srgbClr val="FAFAFA"/>
      </a:lt1>
      <a:dk2>
        <a:srgbClr val="B5B5B7"/>
      </a:dk2>
      <a:lt2>
        <a:srgbClr val="EAE1E2"/>
      </a:lt2>
      <a:accent1>
        <a:srgbClr val="7D57AE"/>
      </a:accent1>
      <a:accent2>
        <a:srgbClr val="E8C8C7"/>
      </a:accent2>
      <a:accent3>
        <a:srgbClr val="2F5C7C"/>
      </a:accent3>
      <a:accent4>
        <a:srgbClr val="DECEE8"/>
      </a:accent4>
      <a:accent5>
        <a:srgbClr val="B0BFDE"/>
      </a:accent5>
      <a:accent6>
        <a:srgbClr val="DDEAFB"/>
      </a:accent6>
      <a:hlink>
        <a:srgbClr val="2F5C7C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