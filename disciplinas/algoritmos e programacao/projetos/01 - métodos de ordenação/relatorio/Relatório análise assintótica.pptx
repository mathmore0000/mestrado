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anrope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Nuni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5ef8f9d8a_1_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5ef8f9d8a_1_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5ef8f9d8a_1_2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5ef8f9d8a_1_2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ef8f9d8a_1_3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5ef8f9d8a_1_3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5ef8f9d8a_1_3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5ef8f9d8a_1_3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9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" name="Google Shape;78;p19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9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" name="Google Shape;84;p19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311700" y="744575"/>
            <a:ext cx="8520600" cy="29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Comparação da complexidade de tempo de métodos de ordenação: Relatório e análise crítica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311700" y="4002750"/>
            <a:ext cx="85206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Mestrado Profissional em Computa</a:t>
            </a:r>
            <a:r>
              <a:rPr lang="pt-BR"/>
              <a:t>ção Aplicada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</a:rPr>
              <a:t>Matheus dos Santos Moreira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-438500" y="0"/>
            <a:ext cx="28125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10/03/2026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Introdução ao conceito de análise assintótica e sua relevância.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Demonstração prática de cinco algoritmos fundamentais de ordenação.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Estabelecer a relação entre o tempo de execução real e o teórico.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análise da complexidade de espaço não será abordada neste estudo.</a:t>
            </a:r>
            <a:endParaRPr/>
          </a:p>
        </p:txBody>
      </p:sp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7025" y="18454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Assintótica</a:t>
            </a:r>
            <a:endParaRPr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análise assintótica estuda o crescimento do tempo de execução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Avalia o aumento do consumo de recursos conforme a entrada (n)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Representa o limite superior das funções de complexidade.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Inclui complexidades de O(1) a O(N!) para análise teórica</a:t>
            </a:r>
            <a:endParaRPr/>
          </a:p>
        </p:txBody>
      </p:sp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50" y="1677750"/>
            <a:ext cx="3691775" cy="23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Experimental</a:t>
            </a:r>
            <a:endParaRPr/>
          </a:p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Utilização da linguagem Rust e 'std::time' para medições de tempo.</a:t>
            </a:r>
            <a:endParaRPr/>
          </a:p>
        </p:txBody>
      </p:sp>
      <p:sp>
        <p:nvSpPr>
          <p:cNvPr id="113" name="Google Shape;113;p24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em vetores de 1.000, 10.000 e 100.000 itens com três estados de inicialização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4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Realizadas 225 execuções totais para mitigar influência de outliers.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4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Hardware específico utilizado: Apple M4 (10 núcleos) e 24GB RAM</a:t>
            </a:r>
            <a:endParaRPr/>
          </a:p>
        </p:txBody>
      </p:sp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275" y="247168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 txBox="1"/>
          <p:nvPr>
            <p:ph idx="4" type="body"/>
          </p:nvPr>
        </p:nvSpPr>
        <p:spPr>
          <a:xfrm>
            <a:off x="4914876" y="3264275"/>
            <a:ext cx="2698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Bolha (melhorado), sele</a:t>
            </a:r>
            <a:r>
              <a:rPr lang="pt-BR"/>
              <a:t>ção, inserção, </a:t>
            </a:r>
            <a:r>
              <a:rPr i="1" lang="pt-BR"/>
              <a:t>Mergesort</a:t>
            </a:r>
            <a:r>
              <a:rPr lang="pt-BR"/>
              <a:t> e </a:t>
            </a:r>
            <a:r>
              <a:rPr i="1" lang="pt-BR"/>
              <a:t>Quicksort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4"/>
          <p:cNvSpPr txBox="1"/>
          <p:nvPr>
            <p:ph idx="5" type="body"/>
          </p:nvPr>
        </p:nvSpPr>
        <p:spPr>
          <a:xfrm>
            <a:off x="4456309" y="3264275"/>
            <a:ext cx="4569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05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Resultados: Vetor aleat</a:t>
            </a:r>
            <a:r>
              <a:rPr lang="pt-BR"/>
              <a:t>ório</a:t>
            </a:r>
            <a:endParaRPr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854175" y="2224950"/>
            <a:ext cx="4782300" cy="23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Quicksort foi consistentemente o mais rápido no conjunto de dados aleatórios.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Compara</a:t>
            </a:r>
            <a:r>
              <a:rPr lang="pt-BR"/>
              <a:t>ção de tamanho </a:t>
            </a:r>
            <a:r>
              <a:rPr lang="pt-BR"/>
              <a:t>evidencia bem a an</a:t>
            </a:r>
            <a:r>
              <a:rPr lang="pt-BR"/>
              <a:t>álise assintótica.</a:t>
            </a:r>
            <a:r>
              <a:rPr lang="pt-BR"/>
              <a:t> </a:t>
            </a:r>
            <a:endParaRPr/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00" y="1594375"/>
            <a:ext cx="3687024" cy="227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Resultados: Vetor decrescente</a:t>
            </a:r>
            <a:endParaRPr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3854175" y="2224950"/>
            <a:ext cx="4782300" cy="23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Ordem de velocidade de execu</a:t>
            </a:r>
            <a:r>
              <a:rPr lang="pt-BR"/>
              <a:t>ção é a mesma do vetor aleatório.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Análise de execução combinada com vetores maiores indicam relação com análise assintótica.</a:t>
            </a:r>
            <a:endParaRPr/>
          </a:p>
        </p:txBody>
      </p:sp>
      <p:pic>
        <p:nvPicPr>
          <p:cNvPr id="130" name="Google Shape;1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00" y="1639575"/>
            <a:ext cx="3687024" cy="2279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Resultados: Vetor crescente</a:t>
            </a:r>
            <a:endParaRPr/>
          </a:p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124125" y="2519825"/>
            <a:ext cx="4782300" cy="23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Selection </a:t>
            </a:r>
            <a:r>
              <a:rPr lang="pt-BR"/>
              <a:t>é o mais lento de todos.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Bubble é o mais veloz.</a:t>
            </a:r>
            <a:endParaRPr/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773" y="528898"/>
            <a:ext cx="3228501" cy="199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773" y="2714330"/>
            <a:ext cx="3228501" cy="19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-305750" y="1127600"/>
            <a:ext cx="4453200" cy="24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1, 2, 3, 4, 5, 6, 7, 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Crítica: Limites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notação assintótica é uma excelente aproximação teórica.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Constantes multiplicativas e aditivas são ignoradas na análise assintótica.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Detalhes de implementação afetam o tempo de execução real na prática.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O padrão inicial do input impacta significativamente o desempenho real.</a:t>
            </a:r>
            <a:endParaRPr/>
          </a:p>
        </p:txBody>
      </p:sp>
      <p:pic>
        <p:nvPicPr>
          <p:cNvPr id="144" name="Google Shape;144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787200" y="2345250"/>
            <a:ext cx="1569600" cy="4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</a:t>
            </a:r>
            <a:endParaRPr/>
          </a:p>
        </p:txBody>
      </p:sp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650" y="3621025"/>
            <a:ext cx="1287851" cy="128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